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0" r:id="rId4"/>
    <p:sldId id="267" r:id="rId5"/>
    <p:sldId id="262" r:id="rId6"/>
    <p:sldId id="268" r:id="rId7"/>
    <p:sldId id="26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36" autoAdjust="0"/>
  </p:normalViewPr>
  <p:slideViewPr>
    <p:cSldViewPr snapToGrid="0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444D4-03BC-432B-8969-8B68EE6584DC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2594A-8729-4FC0-A7FD-CEA5622A9E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本节实验课的目的，主要包含四点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本次实验内容：建立深度学习回归模型，预测特定人群的新冠确诊概率</a:t>
            </a:r>
            <a:endParaRPr lang="en-US" altLang="zh-CN" dirty="0"/>
          </a:p>
          <a:p>
            <a:r>
              <a:rPr lang="zh-CN" altLang="en-US" dirty="0"/>
              <a:t>实验所使用的数据：来自卡内基</a:t>
            </a:r>
            <a:r>
              <a:rPr lang="en-US" altLang="zh-CN" dirty="0"/>
              <a:t> </a:t>
            </a:r>
            <a:r>
              <a:rPr lang="zh-CN" altLang="en-US" dirty="0"/>
              <a:t>梅隆大学某实验室的新冠肺炎调查数据</a:t>
            </a:r>
            <a:endParaRPr lang="en-US" altLang="zh-CN" dirty="0"/>
          </a:p>
          <a:p>
            <a:r>
              <a:rPr lang="zh-CN" altLang="en-US" dirty="0"/>
              <a:t>调查内容包括：某一人群中各类状况发生的比例，如：多少人佩戴了口罩</a:t>
            </a:r>
            <a:endParaRPr lang="en-US" altLang="zh-CN" dirty="0"/>
          </a:p>
          <a:p>
            <a:r>
              <a:rPr lang="zh-CN" altLang="en-US" dirty="0"/>
              <a:t>利用这些数据，预测该人群新冠确诊比例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TW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covid.train.csv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文件中包含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2700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条数据，对应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2700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次调查的结果。每条数据包含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96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列。</a:t>
            </a:r>
            <a:endParaRPr lang="en-US" altLang="zh-CN" sz="1200" dirty="0">
              <a:latin typeface="Adobe 宋体 Std L" panose="02020300000000000000" pitchFamily="18" charset="-122"/>
              <a:ea typeface="Adobe 宋体 Std L" panose="02020300000000000000" pitchFamily="18" charset="-122"/>
              <a:cs typeface="Ubuntu Mono"/>
              <a:sym typeface="Ubuntu Mono"/>
            </a:endParaRPr>
          </a:p>
          <a:p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sym typeface="Ubuntu Mono"/>
              </a:rPr>
              <a:t>第一列为该条数据的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sym typeface="Ubuntu Mono"/>
              </a:rPr>
              <a:t>id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sym typeface="Ubuntu Mono"/>
              </a:rPr>
              <a:t>（编号）</a:t>
            </a:r>
            <a:endParaRPr lang="en-US" altLang="zh-CN" sz="1200" dirty="0">
              <a:latin typeface="Adobe 宋体 Std L" panose="02020300000000000000" pitchFamily="18" charset="-122"/>
              <a:ea typeface="Adobe 宋体 Std L" panose="02020300000000000000" pitchFamily="18" charset="-122"/>
              <a:sym typeface="Ubuntu Mono"/>
            </a:endParaRPr>
          </a:p>
          <a:p>
            <a:r>
              <a:rPr lang="zh-CN" altLang="en-US" dirty="0"/>
              <a:t>随后</a:t>
            </a:r>
            <a:r>
              <a:rPr lang="en-US" altLang="zh-CN" dirty="0"/>
              <a:t>40</a:t>
            </a:r>
            <a:r>
              <a:rPr lang="zh-CN" altLang="en-US" dirty="0"/>
              <a:t>列为本次调查所在的地区的编码</a:t>
            </a:r>
            <a:endParaRPr lang="en-US" altLang="zh-CN" dirty="0"/>
          </a:p>
          <a:p>
            <a:r>
              <a:rPr lang="zh-CN" altLang="en-US" dirty="0"/>
              <a:t>随后的三个</a:t>
            </a:r>
            <a:r>
              <a:rPr lang="en-US" altLang="zh-CN" dirty="0"/>
              <a:t>18</a:t>
            </a:r>
            <a:r>
              <a:rPr lang="zh-CN" altLang="en-US" dirty="0"/>
              <a:t>列为某天的调查所产生的数据，如某一天受调查人群中佩戴口罩的比例</a:t>
            </a:r>
            <a:endParaRPr lang="en-US" altLang="zh-CN" dirty="0"/>
          </a:p>
          <a:p>
            <a:r>
              <a:rPr lang="zh-CN" altLang="en-US" dirty="0"/>
              <a:t>最后一列为本次调查人群中新冠确诊的比例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TW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covid.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test</a:t>
            </a:r>
            <a:r>
              <a:rPr lang="pt-BR" altLang="zh-TW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.csv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文件中包含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893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条数据，对应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893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次调查。每条数据包含</a:t>
            </a:r>
            <a:r>
              <a:rPr lang="en-US" altLang="zh-CN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95</a:t>
            </a:r>
            <a:r>
              <a:rPr lang="zh-CN" altLang="en-US" sz="12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列。</a:t>
            </a:r>
            <a:endParaRPr lang="en-US" altLang="zh-CN" sz="1200" dirty="0">
              <a:latin typeface="Adobe 宋体 Std L" panose="02020300000000000000" pitchFamily="18" charset="-122"/>
              <a:ea typeface="Adobe 宋体 Std L" panose="02020300000000000000" pitchFamily="18" charset="-122"/>
              <a:cs typeface="Ubuntu Mono"/>
              <a:sym typeface="Ubuntu Mono"/>
            </a:endParaRPr>
          </a:p>
          <a:p>
            <a:r>
              <a:rPr lang="zh-CN" altLang="en-US" dirty="0"/>
              <a:t>与</a:t>
            </a:r>
            <a:r>
              <a:rPr lang="en-US" altLang="zh-CN" dirty="0"/>
              <a:t>train</a:t>
            </a:r>
            <a:r>
              <a:rPr lang="zh-CN" altLang="en-US" dirty="0"/>
              <a:t>数据不同的是，这些数据中没有包含最后一列的新冠确诊比例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本次实验的目的，就是要用</a:t>
            </a:r>
            <a:r>
              <a:rPr lang="en-US" altLang="zh-CN" dirty="0"/>
              <a:t>train</a:t>
            </a:r>
            <a:r>
              <a:rPr lang="zh-CN" altLang="en-US" dirty="0"/>
              <a:t>文件中的</a:t>
            </a:r>
            <a:r>
              <a:rPr lang="en-US" altLang="zh-CN" dirty="0"/>
              <a:t>2700</a:t>
            </a:r>
            <a:r>
              <a:rPr lang="zh-CN" altLang="en-US" dirty="0"/>
              <a:t>条数据训练深度学习模型，去预测新冠确诊的比例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本次实验所提供的内容包含以上</a:t>
            </a:r>
            <a:r>
              <a:rPr lang="en-US" altLang="zh-CN" dirty="0"/>
              <a:t>4</a:t>
            </a:r>
            <a:r>
              <a:rPr lang="zh-CN" altLang="en-US" dirty="0"/>
              <a:t>个文件</a:t>
            </a:r>
            <a:endParaRPr lang="en-US" altLang="zh-CN" dirty="0"/>
          </a:p>
          <a:p>
            <a:r>
              <a:rPr lang="en-US" altLang="zh-CN" dirty="0" err="1"/>
              <a:t>covid.train</a:t>
            </a:r>
            <a:r>
              <a:rPr lang="zh-CN" altLang="en-US" dirty="0"/>
              <a:t>和</a:t>
            </a:r>
            <a:r>
              <a:rPr lang="en-US" altLang="zh-CN" dirty="0"/>
              <a:t>test</a:t>
            </a:r>
            <a:r>
              <a:rPr lang="zh-CN" altLang="en-US" dirty="0"/>
              <a:t>为本次实验所用数据</a:t>
            </a:r>
            <a:endParaRPr lang="en-US" altLang="zh-CN" dirty="0"/>
          </a:p>
          <a:p>
            <a:r>
              <a:rPr lang="en-US" altLang="zh-CN" dirty="0"/>
              <a:t>main.py</a:t>
            </a:r>
            <a:r>
              <a:rPr lang="zh-CN" altLang="en-US" dirty="0"/>
              <a:t>是本次实验所用的基础版代码，同学们需要在此基础上进行调优</a:t>
            </a:r>
            <a:endParaRPr lang="en-US" altLang="zh-CN" dirty="0"/>
          </a:p>
          <a:p>
            <a:r>
              <a:rPr lang="zh-CN" altLang="en-US" dirty="0"/>
              <a:t>最后是</a:t>
            </a:r>
            <a:r>
              <a:rPr lang="en-US" altLang="zh-CN" dirty="0"/>
              <a:t>sample</a:t>
            </a:r>
            <a:r>
              <a:rPr lang="zh-CN" altLang="en-US" dirty="0"/>
              <a:t>文件，这是运行完代码后产生的预测结果样例，也是需要提交到</a:t>
            </a:r>
            <a:r>
              <a:rPr lang="en-US" altLang="zh-CN" dirty="0" err="1"/>
              <a:t>kaggle</a:t>
            </a:r>
            <a:r>
              <a:rPr lang="zh-CN" altLang="en-US" dirty="0"/>
              <a:t>上进行评分的文件，其中包含</a:t>
            </a:r>
            <a:r>
              <a:rPr lang="en-US" altLang="zh-CN" dirty="0"/>
              <a:t>893</a:t>
            </a:r>
            <a:r>
              <a:rPr lang="zh-CN" altLang="en-US" dirty="0"/>
              <a:t>行，每行对应一条测试数据，同时包含两列，第一列为数据</a:t>
            </a:r>
            <a:r>
              <a:rPr lang="en-US" altLang="zh-CN" dirty="0"/>
              <a:t>id</a:t>
            </a:r>
            <a:r>
              <a:rPr lang="zh-CN" altLang="en-US" dirty="0"/>
              <a:t>，第二列为预测结果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2594A-8729-4FC0-A7FD-CEA5622A9EA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96ECB-6CE4-4A54-B191-82B1A1A3CCDD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03300-82AA-4268-9485-77D51E58AE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23603"/>
            <a:ext cx="9144000" cy="1086359"/>
          </a:xfrm>
        </p:spPr>
        <p:txBody>
          <a:bodyPr>
            <a:normAutofit/>
          </a:bodyPr>
          <a:lstStyle/>
          <a:p>
            <a:r>
              <a:rPr lang="zh-TW" altLang="zh-CN" sz="6000" b="1" dirty="0">
                <a:solidFill>
                  <a:schemeClr val="accent2"/>
                </a:solidFill>
              </a:rPr>
              <a:t>COVID-19 Cases Prediction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3200" y="1900383"/>
            <a:ext cx="6762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CN" sz="2800" b="1" dirty="0">
                <a:solidFill>
                  <a:schemeClr val="accent2"/>
                </a:solidFill>
              </a:rPr>
              <a:t>Machine Learning HW1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048739" y="4696214"/>
            <a:ext cx="6094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2026-05-20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4600" y="79187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实验目的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6140" y="1420428"/>
            <a:ext cx="84604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了解编译工具 </a:t>
            </a:r>
            <a:r>
              <a:rPr lang="en-US" altLang="zh-CN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PyCharm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了解深度学习的基本环境配置</a:t>
            </a:r>
            <a:endParaRPr lang="en-US" altLang="zh-CN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使用深度神经网络 （</a:t>
            </a:r>
            <a:r>
              <a:rPr lang="en-US" altLang="zh-CN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DNN</a:t>
            </a: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） 解决简单回归问题</a:t>
            </a:r>
            <a:endParaRPr lang="en-US" altLang="zh-CN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了解基础的 </a:t>
            </a:r>
            <a:r>
              <a:rPr lang="en-US" altLang="zh-CN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DNN </a:t>
            </a:r>
            <a:r>
              <a:rPr lang="zh-CN" altLang="en-US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训练技巧，例如：超参数调优、特征选择、正则化 </a:t>
            </a:r>
            <a:r>
              <a:rPr lang="en-US" altLang="zh-CN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...</a:t>
            </a:r>
            <a:endParaRPr lang="en-US" altLang="zh-CN" dirty="0">
              <a:solidFill>
                <a:srgbClr val="FFC000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4600" y="79187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任务背景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6139" y="1420428"/>
            <a:ext cx="9259411" cy="313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来自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卡内基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·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梅隆大学</a:t>
            </a:r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的某实验室在美国展开了新冠肺炎相关调查。根据调查数据预测特定人群新冠肺炎确诊比例。</a:t>
            </a:r>
            <a:endParaRPr lang="en-US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endParaRPr lang="en-US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调查包含多个批次，每次调查持续三天，调查内容包括受调查人群基本信息，人群中各类状况、行为发生的比例，如：</a:t>
            </a:r>
            <a:endParaRPr lang="en-US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人群所在地区（州）</a:t>
            </a:r>
            <a:endParaRPr lang="en-US" altLang="zh-CN" sz="1600" dirty="0">
              <a:solidFill>
                <a:schemeClr val="accent6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核心临床指标（</a:t>
            </a:r>
            <a:r>
              <a:rPr lang="en-US" altLang="zh-CN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e.g.</a:t>
            </a: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类流感症状比率）</a:t>
            </a:r>
            <a:endParaRPr lang="en-US" altLang="zh-CN" sz="1600" dirty="0">
              <a:solidFill>
                <a:schemeClr val="accent6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防疫行为（</a:t>
            </a:r>
            <a:r>
              <a:rPr lang="en-US" altLang="zh-CN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e.g. </a:t>
            </a: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佩戴口罩、外出旅行、非家场所工作）</a:t>
            </a:r>
            <a:endParaRPr lang="en-US" altLang="zh-CN" sz="1600" dirty="0">
              <a:solidFill>
                <a:schemeClr val="accent6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心理状态（</a:t>
            </a:r>
            <a:r>
              <a:rPr lang="en-US" altLang="zh-CN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e.g. </a:t>
            </a: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感到焦虑、抑郁、担心生病）</a:t>
            </a:r>
            <a:endParaRPr lang="en-US" altLang="zh-CN" sz="1600" dirty="0">
              <a:solidFill>
                <a:schemeClr val="accent6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确诊阳性比例</a:t>
            </a:r>
            <a:endParaRPr lang="en-US" altLang="zh-CN" sz="1600" dirty="0">
              <a:solidFill>
                <a:schemeClr val="accent6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599" y="4694555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实验数据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6035" y="5268595"/>
            <a:ext cx="3067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altLang="zh-TW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covid.train.csv</a:t>
            </a:r>
            <a:r>
              <a:rPr lang="en-US" altLang="zh-TW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:</a:t>
            </a:r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 训练数据</a:t>
            </a:r>
            <a:endParaRPr lang="pt-BR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96035" y="5611495"/>
            <a:ext cx="3067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altLang="zh-TW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covid.</a:t>
            </a:r>
            <a:r>
              <a:rPr lang="en-US" altLang="zh-CN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test</a:t>
            </a:r>
            <a:r>
              <a:rPr lang="pt-BR" altLang="zh-TW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.csv</a:t>
            </a:r>
            <a:r>
              <a:rPr lang="en-US" altLang="zh-TW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:</a:t>
            </a:r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 测试数据</a:t>
            </a:r>
            <a:endParaRPr lang="pt-BR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93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004231" y="1850325"/>
            <a:ext cx="8928402" cy="17971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6;p22"/>
          <p:cNvSpPr/>
          <p:nvPr/>
        </p:nvSpPr>
        <p:spPr>
          <a:xfrm>
            <a:off x="2047232" y="1850325"/>
            <a:ext cx="1731605" cy="1797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7;p22"/>
          <p:cNvSpPr/>
          <p:nvPr/>
        </p:nvSpPr>
        <p:spPr>
          <a:xfrm>
            <a:off x="3819033" y="1850325"/>
            <a:ext cx="2375100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8;p22"/>
          <p:cNvSpPr/>
          <p:nvPr/>
        </p:nvSpPr>
        <p:spPr>
          <a:xfrm>
            <a:off x="6194133" y="1850325"/>
            <a:ext cx="2375100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99;p22"/>
          <p:cNvSpPr/>
          <p:nvPr/>
        </p:nvSpPr>
        <p:spPr>
          <a:xfrm>
            <a:off x="8569233" y="1850325"/>
            <a:ext cx="2273173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2"/>
          <p:cNvSpPr/>
          <p:nvPr/>
        </p:nvSpPr>
        <p:spPr>
          <a:xfrm>
            <a:off x="10866333" y="1850325"/>
            <a:ext cx="66300" cy="17973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2327229" y="1191988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地区编码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</a:rPr>
              <a:t>40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424979" y="1191988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第一天数据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18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800079" y="1191988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第二天数据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18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103091" y="2487287"/>
            <a:ext cx="94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6"/>
                </a:solidFill>
              </a:rPr>
              <a:t>确诊阳性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/>
                </a:solidFill>
              </a:rPr>
              <a:t>（</a:t>
            </a:r>
            <a:r>
              <a:rPr lang="en-US" altLang="zh-CN" sz="1400" dirty="0">
                <a:solidFill>
                  <a:schemeClr val="accent6"/>
                </a:solidFill>
              </a:rPr>
              <a:t>1</a:t>
            </a:r>
            <a:r>
              <a:rPr lang="zh-CN" altLang="en-US" sz="1400" dirty="0">
                <a:solidFill>
                  <a:schemeClr val="accent6"/>
                </a:solidFill>
              </a:rPr>
              <a:t>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202479" y="1191988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第三天数据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18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8" name="左大括号 17"/>
          <p:cNvSpPr/>
          <p:nvPr/>
        </p:nvSpPr>
        <p:spPr>
          <a:xfrm>
            <a:off x="1461306" y="1850325"/>
            <a:ext cx="204187" cy="179714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20273" y="2610397"/>
            <a:ext cx="81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2700</a:t>
            </a:r>
            <a:r>
              <a:rPr lang="zh-CN" altLang="en-US" sz="1400" dirty="0"/>
              <a:t>行</a:t>
            </a:r>
            <a:endParaRPr lang="en-US" altLang="zh-CN" sz="1400" dirty="0"/>
          </a:p>
        </p:txBody>
      </p:sp>
      <p:sp>
        <p:nvSpPr>
          <p:cNvPr id="22" name="矩形 21"/>
          <p:cNvSpPr/>
          <p:nvPr/>
        </p:nvSpPr>
        <p:spPr>
          <a:xfrm>
            <a:off x="2047233" y="3582657"/>
            <a:ext cx="1723200" cy="64811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78" y="4014136"/>
            <a:ext cx="11543713" cy="159647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>
            <a:off x="2899955" y="3590934"/>
            <a:ext cx="0" cy="4232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819033" y="3582657"/>
            <a:ext cx="2355002" cy="64812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74" y="4372527"/>
            <a:ext cx="9304528" cy="266999"/>
          </a:xfrm>
          <a:prstGeom prst="rect">
            <a:avLst/>
          </a:prstGeom>
        </p:spPr>
      </p:pic>
      <p:cxnSp>
        <p:nvCxnSpPr>
          <p:cNvPr id="34" name="直接箭头连接符 33"/>
          <p:cNvCxnSpPr>
            <a:stCxn id="30" idx="2"/>
          </p:cNvCxnSpPr>
          <p:nvPr/>
        </p:nvCxnSpPr>
        <p:spPr>
          <a:xfrm>
            <a:off x="4996534" y="3647469"/>
            <a:ext cx="0" cy="66448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782" y="4838270"/>
            <a:ext cx="9304529" cy="266999"/>
          </a:xfrm>
          <a:prstGeom prst="rect">
            <a:avLst/>
          </a:prstGeom>
        </p:spPr>
      </p:pic>
      <p:cxnSp>
        <p:nvCxnSpPr>
          <p:cNvPr id="38" name="直接箭头连接符 37"/>
          <p:cNvCxnSpPr>
            <a:stCxn id="39" idx="2"/>
          </p:cNvCxnSpPr>
          <p:nvPr/>
        </p:nvCxnSpPr>
        <p:spPr>
          <a:xfrm>
            <a:off x="7391732" y="3647469"/>
            <a:ext cx="6711" cy="11908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6214231" y="3582657"/>
            <a:ext cx="2355002" cy="64812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7"/>
          <a:srcRect t="4199" b="1"/>
          <a:stretch>
            <a:fillRect/>
          </a:stretch>
        </p:blipFill>
        <p:spPr>
          <a:xfrm>
            <a:off x="929774" y="5294401"/>
            <a:ext cx="9304529" cy="271409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8606582" y="3582655"/>
            <a:ext cx="2235824" cy="64813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/>
          <p:cNvCxnSpPr>
            <a:stCxn id="46" idx="2"/>
          </p:cNvCxnSpPr>
          <p:nvPr/>
        </p:nvCxnSpPr>
        <p:spPr>
          <a:xfrm flipH="1">
            <a:off x="9717783" y="3647468"/>
            <a:ext cx="6711" cy="164693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54600" y="79187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数据介绍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9807" y="5754471"/>
            <a:ext cx="3832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cli(covid-like illness)</a:t>
            </a:r>
            <a:r>
              <a:rPr lang="zh-CN" altLang="en-US" sz="1400" dirty="0">
                <a:solidFill>
                  <a:schemeClr val="accent2"/>
                </a:solidFill>
              </a:rPr>
              <a:t>、</a:t>
            </a:r>
            <a:r>
              <a:rPr lang="en-US" altLang="zh-CN" sz="1400" dirty="0" err="1">
                <a:solidFill>
                  <a:schemeClr val="accent2"/>
                </a:solidFill>
              </a:rPr>
              <a:t>ili</a:t>
            </a:r>
            <a:r>
              <a:rPr lang="en-US" altLang="zh-CN" sz="1400" dirty="0">
                <a:solidFill>
                  <a:schemeClr val="accent2"/>
                </a:solidFill>
              </a:rPr>
              <a:t>(influenza-like illness) 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03343" y="5749629"/>
            <a:ext cx="3116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chemeClr val="accent2"/>
                </a:solidFill>
              </a:rPr>
              <a:t>wearing_mask</a:t>
            </a:r>
            <a:r>
              <a:rPr lang="zh-CN" altLang="en-US" sz="1400" dirty="0">
                <a:solidFill>
                  <a:schemeClr val="accent2"/>
                </a:solidFill>
              </a:rPr>
              <a:t>、</a:t>
            </a:r>
            <a:r>
              <a:rPr lang="en-US" altLang="zh-CN" sz="1400" dirty="0" err="1">
                <a:solidFill>
                  <a:schemeClr val="accent2"/>
                </a:solidFill>
              </a:rPr>
              <a:t>travel_outside_state</a:t>
            </a:r>
            <a:r>
              <a:rPr lang="en-US" altLang="zh-CN" sz="1400" dirty="0">
                <a:solidFill>
                  <a:schemeClr val="accent2"/>
                </a:solidFill>
              </a:rPr>
              <a:t> 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771262" y="5748499"/>
            <a:ext cx="2051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anxious</a:t>
            </a:r>
            <a:r>
              <a:rPr lang="zh-CN" altLang="en-US" sz="1400" dirty="0">
                <a:solidFill>
                  <a:schemeClr val="accent2"/>
                </a:solidFill>
              </a:rPr>
              <a:t>、</a:t>
            </a:r>
            <a:r>
              <a:rPr lang="en-US" altLang="zh-CN" sz="1400" dirty="0">
                <a:solidFill>
                  <a:schemeClr val="accent2"/>
                </a:solidFill>
              </a:rPr>
              <a:t>depressed 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973896" y="5748267"/>
            <a:ext cx="1500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chemeClr val="accent2"/>
                </a:solidFill>
              </a:rPr>
              <a:t>tested_positive</a:t>
            </a:r>
            <a:r>
              <a:rPr lang="en-US" altLang="zh-CN" sz="1400" dirty="0">
                <a:solidFill>
                  <a:schemeClr val="accent2"/>
                </a:solidFill>
              </a:rPr>
              <a:t>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3" name="Google Shape;203;p22"/>
          <p:cNvSpPr/>
          <p:nvPr/>
        </p:nvSpPr>
        <p:spPr>
          <a:xfrm>
            <a:off x="1990224" y="1850169"/>
            <a:ext cx="45719" cy="17973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文本框 34"/>
          <p:cNvSpPr txBox="1"/>
          <p:nvPr/>
        </p:nvSpPr>
        <p:spPr>
          <a:xfrm>
            <a:off x="1691923" y="1185682"/>
            <a:ext cx="688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5"/>
                </a:solidFill>
              </a:rPr>
              <a:t>ID</a:t>
            </a:r>
          </a:p>
          <a:p>
            <a:pPr algn="ctr"/>
            <a:r>
              <a:rPr lang="zh-CN" altLang="en-US" sz="1400" dirty="0">
                <a:solidFill>
                  <a:schemeClr val="accent5"/>
                </a:solidFill>
              </a:rPr>
              <a:t>（</a:t>
            </a:r>
            <a:r>
              <a:rPr lang="en-US" altLang="zh-CN" sz="1400" dirty="0">
                <a:solidFill>
                  <a:schemeClr val="accent5"/>
                </a:solidFill>
              </a:rPr>
              <a:t>1</a:t>
            </a:r>
            <a:r>
              <a:rPr lang="zh-CN" altLang="en-US" sz="1400" dirty="0">
                <a:solidFill>
                  <a:schemeClr val="accent5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4600" y="79187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数据介绍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pic>
        <p:nvPicPr>
          <p:cNvPr id="5" name="Google Shape;211;p23"/>
          <p:cNvPicPr preferRelativeResize="0"/>
          <p:nvPr/>
        </p:nvPicPr>
        <p:blipFill rotWithShape="1">
          <a:blip r:embed="rId3"/>
          <a:srcRect r="1448"/>
          <a:stretch>
            <a:fillRect/>
          </a:stretch>
        </p:blipFill>
        <p:spPr>
          <a:xfrm>
            <a:off x="1896475" y="2315136"/>
            <a:ext cx="8799100" cy="17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4;p23"/>
          <p:cNvSpPr/>
          <p:nvPr/>
        </p:nvSpPr>
        <p:spPr>
          <a:xfrm>
            <a:off x="1956349" y="2315136"/>
            <a:ext cx="1708726" cy="1797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5;p23"/>
          <p:cNvSpPr/>
          <p:nvPr/>
        </p:nvSpPr>
        <p:spPr>
          <a:xfrm>
            <a:off x="3682429" y="2315136"/>
            <a:ext cx="2357745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16;p23"/>
          <p:cNvSpPr/>
          <p:nvPr/>
        </p:nvSpPr>
        <p:spPr>
          <a:xfrm>
            <a:off x="6040175" y="2315136"/>
            <a:ext cx="2375100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17;p23"/>
          <p:cNvSpPr/>
          <p:nvPr/>
        </p:nvSpPr>
        <p:spPr>
          <a:xfrm>
            <a:off x="8415275" y="2315136"/>
            <a:ext cx="2280300" cy="17973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文本框 9"/>
          <p:cNvSpPr txBox="1"/>
          <p:nvPr/>
        </p:nvSpPr>
        <p:spPr>
          <a:xfrm>
            <a:off x="2173271" y="1663572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地区编码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</a:rPr>
              <a:t>40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71021" y="1663572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第一天数据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18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46121" y="1663572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第二天数据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18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048521" y="1663572"/>
            <a:ext cx="116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第三天数据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17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93275" y="4439851"/>
            <a:ext cx="846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893</a:t>
            </a:r>
            <a:r>
              <a:rPr lang="zh-CN" altLang="en-US" sz="1600" dirty="0">
                <a:latin typeface="Adobe 宋体 Std L" panose="02020300000000000000" pitchFamily="18" charset="-122"/>
                <a:ea typeface="Adobe 宋体 Std L" panose="02020300000000000000" pitchFamily="18" charset="-122"/>
                <a:cs typeface="Ubuntu Mono"/>
                <a:sym typeface="Ubuntu Mono"/>
              </a:rPr>
              <a:t>次调查产生的数据，与训练数据格式相同，不包含第三天确诊比例（需自己预测）</a:t>
            </a:r>
            <a:endParaRPr lang="pt-BR" altLang="zh-CN" sz="1600" dirty="0"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1412005" y="2361151"/>
            <a:ext cx="204187" cy="179714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70972" y="3121223"/>
            <a:ext cx="81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893</a:t>
            </a:r>
            <a:r>
              <a:rPr lang="zh-CN" altLang="en-US" sz="1400" dirty="0"/>
              <a:t>行</a:t>
            </a:r>
            <a:endParaRPr lang="en-US" altLang="zh-CN" sz="1400" dirty="0"/>
          </a:p>
        </p:txBody>
      </p:sp>
      <p:sp>
        <p:nvSpPr>
          <p:cNvPr id="17" name="Google Shape;203;p22"/>
          <p:cNvSpPr/>
          <p:nvPr/>
        </p:nvSpPr>
        <p:spPr>
          <a:xfrm>
            <a:off x="1893275" y="2315136"/>
            <a:ext cx="45719" cy="17973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1572114" y="1663572"/>
            <a:ext cx="688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5"/>
                </a:solidFill>
              </a:rPr>
              <a:t>ID</a:t>
            </a:r>
          </a:p>
          <a:p>
            <a:pPr algn="ctr"/>
            <a:r>
              <a:rPr lang="zh-CN" altLang="en-US" sz="1400" dirty="0">
                <a:solidFill>
                  <a:schemeClr val="accent5"/>
                </a:solidFill>
              </a:rPr>
              <a:t>（</a:t>
            </a:r>
            <a:r>
              <a:rPr lang="en-US" altLang="zh-CN" sz="1400" dirty="0">
                <a:solidFill>
                  <a:schemeClr val="accent5"/>
                </a:solidFill>
              </a:rPr>
              <a:t>1</a:t>
            </a:r>
            <a:r>
              <a:rPr lang="zh-CN" altLang="en-US" sz="1400" dirty="0">
                <a:solidFill>
                  <a:schemeClr val="accent5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4600" y="79187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提供内容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9691" y="1445376"/>
            <a:ext cx="5196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covid.train.csv			</a:t>
            </a:r>
            <a:r>
              <a:rPr lang="zh-CN" altLang="en-US" sz="1400" dirty="0"/>
              <a:t>训练数据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covid.test.csv			</a:t>
            </a:r>
            <a:r>
              <a:rPr lang="zh-CN" altLang="en-US" sz="1400" dirty="0"/>
              <a:t>测试数据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main.py			                  </a:t>
            </a:r>
            <a:r>
              <a:rPr lang="zh-CN" altLang="en-US" sz="1400" dirty="0"/>
              <a:t>基础版代码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sampleSubmission.csv		</a:t>
            </a:r>
            <a:r>
              <a:rPr lang="zh-CN" altLang="en-US" sz="1400" dirty="0"/>
              <a:t>结果样例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600" y="2909896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结果示例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91" y="3538604"/>
            <a:ext cx="2478914" cy="165260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575" y="3538604"/>
            <a:ext cx="1652609" cy="165260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5"/>
          <a:srcRect r="83172" b="-1794"/>
          <a:stretch>
            <a:fillRect/>
          </a:stretch>
        </p:blipFill>
        <p:spPr>
          <a:xfrm>
            <a:off x="7120363" y="3052123"/>
            <a:ext cx="1024363" cy="20364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96000" y="2971452"/>
            <a:ext cx="1024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预测结果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852" y="3673517"/>
            <a:ext cx="5810473" cy="12832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6426" y="1440111"/>
            <a:ext cx="2561025" cy="9541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278" y="696568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</a:rPr>
              <a:t>评分标准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727" y="1503857"/>
            <a:ext cx="11322220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完成基础实验流程（</a:t>
            </a:r>
            <a:r>
              <a:rPr lang="en-US" altLang="zh-CN" dirty="0"/>
              <a:t>1.</a:t>
            </a:r>
            <a:r>
              <a:rPr lang="zh-CN" altLang="en-US" dirty="0"/>
              <a:t>代码可执行且与基础代码不同 </a:t>
            </a:r>
            <a:r>
              <a:rPr lang="en-US" altLang="zh-CN" dirty="0"/>
              <a:t>2.</a:t>
            </a:r>
            <a:r>
              <a:rPr lang="zh-CN" altLang="en-US" dirty="0"/>
              <a:t>所有同学不重复</a:t>
            </a:r>
            <a:r>
              <a:rPr lang="en-US" altLang="zh-CN" dirty="0"/>
              <a:t> 3.</a:t>
            </a:r>
            <a:r>
              <a:rPr lang="zh-CN" altLang="en-US" dirty="0"/>
              <a:t>生成</a:t>
            </a:r>
            <a:r>
              <a:rPr lang="en-US" altLang="zh-CN" dirty="0"/>
              <a:t>.csv</a:t>
            </a:r>
            <a:r>
              <a:rPr lang="zh-CN" altLang="en-US" dirty="0"/>
              <a:t>文件）</a:t>
            </a:r>
            <a:r>
              <a:rPr lang="en-US" altLang="zh-CN" dirty="0"/>
              <a:t>40</a:t>
            </a:r>
            <a:r>
              <a:rPr lang="zh-CN" altLang="en-US" dirty="0"/>
              <a:t>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kaggle</a:t>
            </a:r>
            <a:r>
              <a:rPr lang="zh-CN" altLang="en-US" dirty="0"/>
              <a:t>评分</a:t>
            </a:r>
            <a:r>
              <a:rPr lang="en-US" altLang="zh-CN" dirty="0"/>
              <a:t>&lt;1.4 / Kaggle</a:t>
            </a:r>
            <a:r>
              <a:rPr lang="zh-CN" altLang="en-US" dirty="0"/>
              <a:t>评分</a:t>
            </a:r>
            <a:r>
              <a:rPr lang="en-US" altLang="zh-CN" dirty="0"/>
              <a:t>&lt;1.1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Kaggle</a:t>
            </a:r>
            <a:r>
              <a:rPr lang="zh-CN" altLang="en-US" dirty="0"/>
              <a:t>评分</a:t>
            </a:r>
            <a:r>
              <a:rPr lang="en-US" altLang="zh-CN" dirty="0"/>
              <a:t>&lt;0.95                                                        10</a:t>
            </a:r>
            <a:r>
              <a:rPr lang="zh-CN" altLang="en-US" dirty="0"/>
              <a:t>分</a:t>
            </a:r>
            <a:r>
              <a:rPr lang="en-US" altLang="zh-CN" dirty="0"/>
              <a:t>/15</a:t>
            </a:r>
            <a:r>
              <a:rPr lang="zh-CN" altLang="en-US" dirty="0"/>
              <a:t>分</a:t>
            </a:r>
            <a:r>
              <a:rPr lang="en-US" altLang="zh-CN" dirty="0"/>
              <a:t>/20</a:t>
            </a:r>
            <a:r>
              <a:rPr lang="zh-CN" altLang="en-US" dirty="0"/>
              <a:t>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实验报告内容（参数调优、特征选择、网络改进等过程）                                                 </a:t>
            </a:r>
            <a:r>
              <a:rPr lang="en-US" altLang="zh-CN" dirty="0"/>
              <a:t>40</a:t>
            </a:r>
            <a:r>
              <a:rPr lang="zh-CN" altLang="en-US" dirty="0"/>
              <a:t>分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26733" y="3376061"/>
            <a:ext cx="166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提交内容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727" y="3964112"/>
            <a:ext cx="10239375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最终代码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pred.csv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实验报告：实验记录</a:t>
            </a:r>
            <a:r>
              <a:rPr lang="en-US" altLang="zh-CN" dirty="0"/>
              <a:t>——</a:t>
            </a:r>
            <a:r>
              <a:rPr lang="zh-CN" altLang="en-US" dirty="0"/>
              <a:t>‘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你是如何一步一步提高评分的</a:t>
            </a:r>
            <a:r>
              <a:rPr lang="zh-CN" altLang="en-US" dirty="0"/>
              <a:t>’、最优</a:t>
            </a:r>
            <a:r>
              <a:rPr lang="en-US" altLang="zh-CN" dirty="0" err="1"/>
              <a:t>kaggle</a:t>
            </a:r>
            <a:r>
              <a:rPr lang="zh-CN" altLang="en-US" dirty="0"/>
              <a:t>评分截图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551727" y="5441606"/>
            <a:ext cx="1023937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压缩包命名格式：学号</a:t>
            </a:r>
            <a:r>
              <a:rPr lang="en-US" altLang="zh-CN" dirty="0">
                <a:solidFill>
                  <a:schemeClr val="accent2"/>
                </a:solidFill>
              </a:rPr>
              <a:t>-</a:t>
            </a:r>
            <a:r>
              <a:rPr lang="zh-CN" altLang="en-US" dirty="0">
                <a:solidFill>
                  <a:schemeClr val="accent2"/>
                </a:solidFill>
              </a:rPr>
              <a:t>姓名（</a:t>
            </a:r>
            <a:r>
              <a:rPr lang="en-US" altLang="zh-CN" dirty="0">
                <a:solidFill>
                  <a:schemeClr val="accent2"/>
                </a:solidFill>
              </a:rPr>
              <a:t>e.g. 22713xx-xx.zip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en-US" altLang="zh-CN" dirty="0">
              <a:solidFill>
                <a:schemeClr val="accent2"/>
              </a:solidFill>
            </a:endParaRPr>
          </a:p>
          <a:p>
            <a:r>
              <a:rPr lang="zh-CN" altLang="en-US" dirty="0">
                <a:solidFill>
                  <a:schemeClr val="accent2"/>
                </a:solidFill>
              </a:rPr>
              <a:t>发送至：</a:t>
            </a:r>
            <a:r>
              <a:rPr lang="en-US" altLang="zh-CN" dirty="0">
                <a:solidFill>
                  <a:schemeClr val="accent2"/>
                </a:solidFill>
              </a:rPr>
              <a:t>2625658394@qq.com</a:t>
            </a:r>
          </a:p>
          <a:p>
            <a:r>
              <a:rPr lang="zh-CN" altLang="en-US" dirty="0">
                <a:solidFill>
                  <a:schemeClr val="accent2"/>
                </a:solidFill>
              </a:rPr>
              <a:t>截止日期：下次实验课前</a:t>
            </a:r>
            <a:endParaRPr lang="en-US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823</Words>
  <Application>Microsoft Office PowerPoint</Application>
  <PresentationFormat>宽屏</PresentationFormat>
  <Paragraphs>93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Adobe 宋体 Std L</vt:lpstr>
      <vt:lpstr>新細明體</vt:lpstr>
      <vt:lpstr>Ubuntu Mono</vt:lpstr>
      <vt:lpstr>等线</vt:lpstr>
      <vt:lpstr>等线 Light</vt:lpstr>
      <vt:lpstr>Arial</vt:lpstr>
      <vt:lpstr>Office 主题​​</vt:lpstr>
      <vt:lpstr>COVID-19 Cases Prediction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Cases Prediction</dc:title>
  <dc:creator>USER</dc:creator>
  <cp:lastModifiedBy>USER</cp:lastModifiedBy>
  <cp:revision>42</cp:revision>
  <dcterms:created xsi:type="dcterms:W3CDTF">2022-04-28T07:38:00Z</dcterms:created>
  <dcterms:modified xsi:type="dcterms:W3CDTF">2026-05-20T02:44:08Z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A080EC14A83D49D6BCC4C95C3F32A1F1_12</vt:lpwstr>
  </property>
  <property fmtid="{D5CDD505-2E9C-101B-9397-08002B2CF9AE}" pid="3" name="KSOProductBuildVer">
    <vt:lpwstr>2052-12.1.0.21171</vt:lpwstr>
  </property>
</Properties>
</file>